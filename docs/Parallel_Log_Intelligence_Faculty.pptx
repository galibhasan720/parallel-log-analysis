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s</c:v>
                </c:pt>
              </c:strCache>
            </c:strRef>
          </c:tx>
          <c:spPr>
            <a:solidFill>
              <a:srgbClr val="FBBF24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7.5890000000000004</c:v>
                </c:pt>
                <c:pt idx="1">
                  <c:v>5.6630000000000003</c:v>
                </c:pt>
                <c:pt idx="2">
                  <c:v>4.4969999999999999</c:v>
                </c:pt>
                <c:pt idx="3">
                  <c:v>4.5350000000000001</c:v>
                </c:pt>
                <c:pt idx="4">
                  <c:v>3.899</c:v>
                </c:pt>
                <c:pt idx="5">
                  <c:v>4.327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678-49FC-B68F-BFE23B3C7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sz="1000" b="0">
                    <a:solidFill>
                      <a:srgbClr val="8B9CB3"/>
                    </a:solidFill>
                    <a:latin typeface="Segoe UI"/>
                  </a:rPr>
                  <a:t>Workers 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sz="1000" b="0">
                    <a:solidFill>
                      <a:srgbClr val="8B9CB3"/>
                    </a:solidFill>
                    <a:latin typeface="Segoe UI"/>
                  </a:rPr>
                  <a:t>Seconds (mean)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solidFill>
          <a:srgbClr val="0E1624"/>
        </a:solidFill>
      </c:spPr>
    </c:plotArea>
    <c:plotVisOnly val="1"/>
    <c:dispBlanksAs val="gap"/>
    <c:showDLblsOverMax val="1"/>
  </c:chart>
  <c:spPr>
    <a:solidFill>
      <a:srgbClr val="0A1220"/>
    </a:solidFill>
  </c:spPr>
  <c:txPr>
    <a:bodyPr/>
    <a:lstStyle/>
    <a:p>
      <a:pPr>
        <a:defRPr sz="1000">
          <a:solidFill>
            <a:srgbClr val="8B9CB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s</c:v>
                </c:pt>
              </c:strCache>
            </c:strRef>
          </c:tx>
          <c:spPr>
            <a:solidFill>
              <a:srgbClr val="FBBF24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43.731999999999999</c:v>
                </c:pt>
                <c:pt idx="1">
                  <c:v>33.734999999999999</c:v>
                </c:pt>
                <c:pt idx="2">
                  <c:v>24.414000000000001</c:v>
                </c:pt>
                <c:pt idx="3">
                  <c:v>20.454999999999998</c:v>
                </c:pt>
                <c:pt idx="4">
                  <c:v>17.946999999999999</c:v>
                </c:pt>
                <c:pt idx="5">
                  <c:v>17.286999999999999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C8-4671-84F4-9952EB5C5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sz="1000" b="0">
                    <a:solidFill>
                      <a:srgbClr val="8B9CB3"/>
                    </a:solidFill>
                    <a:latin typeface="Segoe UI"/>
                  </a:rPr>
                  <a:t>Workers 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sz="1000" b="0">
                    <a:solidFill>
                      <a:srgbClr val="8B9CB3"/>
                    </a:solidFill>
                    <a:latin typeface="Segoe UI"/>
                  </a:rPr>
                  <a:t>Seconds (mean)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solidFill>
          <a:srgbClr val="0E1624"/>
        </a:solidFill>
      </c:spPr>
    </c:plotArea>
    <c:plotVisOnly val="1"/>
    <c:dispBlanksAs val="gap"/>
    <c:showDLblsOverMax val="1"/>
  </c:chart>
  <c:spPr>
    <a:solidFill>
      <a:srgbClr val="0A1220"/>
    </a:solidFill>
  </c:spPr>
  <c:txPr>
    <a:bodyPr/>
    <a:lstStyle/>
    <a:p>
      <a:pPr>
        <a:defRPr sz="1000">
          <a:solidFill>
            <a:srgbClr val="8B9CB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2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room. One sentence purpose. Hardware is a suitability decision: Iris Xe cannot run CUDA, so this is multi-paradigm CPU HPC.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Pause. Collect answers. Then: the first question is rarely rewrite the product. It is what do the logs say?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whole product in four verbs. AI is optional and never reads the raw multi-hundred-MB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Observability platforms exist for this. Today is the same idea as a measurable parallel-computing prototype — not a commercial SIEM.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only measured numbers. Full tables in PERFORMANCE.md. Do not round into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That is HPC. Same math. More workers. One correct answer if chunk boundaries and the merge are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Faculty: domain decomposition, map, associative reduce. Business: many cores, one scoreboard. Newline align so no line is split or duplicated.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faculty asks for HPC, open the CLI. If industry asks for a product, show the UI and job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deep-dive APIs. Product chooses how to run; engine does the work. GPU acceleration is out of scope on Iris 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CLO1 as the faculty hook: we publish timed matrices, not vibes. CLO3 is honest — not Slurm on a university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GPU weeks out loud: objective (f) is evaluate suitability. Choosing CUDA would fail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answers why not matrix multiply: real workload, hard correctness, honest laptop-scale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Faculty should hear the protocol before the pretty chart. That is scientific HPC, not a marketing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on the chart. Sequential 7.589 s. Best 3.899 s at 8 workers. Efficiency 0.24. Do not say 8×.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Sequential 43.732 s. Best 17.287 s. Throughput about 11.4 MB/s to 28.9 MB/s. Honest 2.53×.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answers the I/O question. If it were disk-bound, extra workers would not help. They do — modestly, as the charts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them answer. Then: serious rooms prefer a number that survives due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benefits concrete. Do not invent dollar ROI. Time-to-insight is the business translation of wall-clock.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Industry uses parallel log processing inside those products. We expose the mechanism so a course — and a hiring manager — can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honest sales slide: not always, but when these constraints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course pillars plus privacy. Keep the slide human — point at parity tests if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Honesty is a feature. Stage 2 is course-aligned CPU HPC. Stages 3–6 remain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breath. Invite questions from faculty and from business in the same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them pick a question. If you lack a number, say you will check PERFORMANCE.md. Never invent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CSE 471  ·  HIGH-PERFORMANCE COMPUTING  ·  STAGE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1234440"/>
            <a:ext cx="11155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4F7FB"/>
                </a:solidFill>
                <a:latin typeface="Segoe UI"/>
              </a:rPr>
              <a:t>Parallel Log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224028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8B9CB3"/>
                </a:solidFill>
                <a:latin typeface="Segoe UI"/>
              </a:rPr>
              <a:t>We split a large log across CPU cores, merge one correct report, and optionally explain the evidence with local AI.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315468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HPC engine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315468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Honest metrics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30368" y="3154680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DD4BF"/>
                </a:solidFill>
                <a:latin typeface="Segoe UI"/>
              </a:rPr>
              <a:t>Optional local 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315468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A78BFA"/>
                </a:solidFill>
                <a:latin typeface="Segoe UI"/>
              </a:rPr>
              <a:t>No GPU path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" y="38862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404164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9CB3"/>
                </a:solidFill>
                <a:latin typeface="Segoe UI"/>
              </a:rPr>
              <a:t>Hardware measured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4F7FB"/>
                </a:solidFill>
                <a:latin typeface="Segoe UI"/>
              </a:rPr>
              <a:t>Intel i5-1235U  ·  12 logical processors  ·  12 GB RAM  ·  Iris Xe (no CUDA device)  ·  ~15 min faculty briefing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Purpose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8912" y="164592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"/>
              </a:rPr>
              <a:t>ASK THE 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1005840"/>
            <a:ext cx="1124712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7FB"/>
                </a:solidFill>
                <a:latin typeface="Segoe UI"/>
              </a:rPr>
              <a:t>When something breaks in a product you run — an app, a bank portal, a campus system — where do you look first?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3291840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2D3EE"/>
                </a:solidFill>
                <a:latin typeface="Segoe UI"/>
              </a:rPr>
              <a:t>Gut feel is fine. Ten seconds. Two or three answers.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402336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9CB3"/>
                </a:solidFill>
                <a:latin typeface="Segoe UI"/>
              </a:rPr>
              <a:t>Hint — not the answer yet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4F7FB"/>
                </a:solidFill>
                <a:latin typeface="Segoe UI"/>
              </a:rPr>
              <a:t>Logs: timestamped records of logins, errors, slow requests, and suspicion.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Purpose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MAIN PURPOSE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One correct report. Many cores.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89611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The engine does HPC. The product shows it. AI only translates evidence.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14630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1691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2194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Decompose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29718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Byte chunks, full lines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4952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64992" y="14630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47872" y="1691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47872" y="2194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Analyze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7872" y="29718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Workers parse in parallel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71032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14630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73952" y="1691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Segoe UI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3952" y="2194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Merge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29718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Associative partial results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7112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17152" y="14630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00032" y="1691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00032" y="21945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Explain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00032" y="29718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Optional local AI on totals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Purpose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7185"/>
                </a:solidFill>
                <a:latin typeface="Segoe UI"/>
              </a:rPr>
              <a:t>THE BUSINESS 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The cost is not disk 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89611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It is time-to-understand.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Logs are the black box of software — logins, failures, slow APIs, suspicious IPs.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Delayed reading means delayed recovery, delayed customer message, delayed trust.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One day’s file can be hundreds of megabytes; one core wastes the rest of the CPU.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41148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22D3EE"/>
                </a:solidFill>
                <a:latin typeface="Segoe UI"/>
              </a:rPr>
              <a:t>Incident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22191" y="41605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4F7FB"/>
                </a:solidFill>
                <a:latin typeface="Segoe U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79392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79392" y="41148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BF24"/>
                </a:solidFill>
                <a:latin typeface="Segoe UI"/>
              </a:rPr>
              <a:t>Confusion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1" y="41605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4F7FB"/>
                </a:solidFill>
                <a:latin typeface="Segoe U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9872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9872" y="4114800"/>
            <a:ext cx="3566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B7185"/>
                </a:solidFill>
                <a:latin typeface="Segoe UI"/>
              </a:rPr>
              <a:t>Slow decision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Purpose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MEASURED PAIN  ·  I5-1235U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Sequential is already slow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4173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16916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9CB3"/>
                </a:solidFill>
                <a:latin typeface="Segoe UI"/>
              </a:rPr>
              <a:t>100 MB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22402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BBF24"/>
                </a:solidFill>
                <a:latin typeface="Segoe UI"/>
              </a:rPr>
              <a:t>~7.6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3474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one core  ·  901,610 lines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79392" y="14173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07992" y="16916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9CB3"/>
                </a:solidFill>
                <a:latin typeface="Segoe UI"/>
              </a:rPr>
              <a:t>500 MB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7992" y="22402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BBF24"/>
                </a:solidFill>
                <a:latin typeface="Segoe UI"/>
              </a:rPr>
              <a:t>~44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3474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one core  ·  4.5M lines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9872" y="14173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48472" y="16916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9CB3"/>
                </a:solidFill>
                <a:latin typeface="Segoe UI"/>
              </a:rPr>
              <a:t>Read-only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2" y="2240280"/>
            <a:ext cx="3154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Segoe UI"/>
              </a:rPr>
              <a:t>~0.05 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8472" y="3474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100 MB bytes only — not the bottleneck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5029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Interactive investigation cannot wait. Real production logs are often larger.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8912" y="164592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"/>
              </a:rPr>
              <a:t>ASK THE 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640080"/>
            <a:ext cx="112471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A 500-page incident report: one reader for every page, or eight readers of chapters who then combine counts?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224028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24688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7185"/>
                </a:solidFill>
                <a:latin typeface="Segoe UI"/>
              </a:rPr>
              <a:t>SERIAL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4F7FB"/>
                </a:solidFill>
                <a:latin typeface="Segoe UI"/>
              </a:rPr>
              <a:t>1 reader  ·  500 pages  ·  slow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Correct, but the rest of the team sits idle.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224028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0528" y="24688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DD4BF"/>
                </a:solidFill>
                <a:latin typeface="Segoe UI"/>
              </a:rPr>
              <a:t>PARALLEL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292608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4F7FB"/>
                </a:solidFill>
                <a:latin typeface="Segoe UI"/>
              </a:rPr>
              <a:t>8 readers  ·  chapters  ·  one report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10528" y="4114800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Only if nobody double-counts pages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HOW IT 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Split. Analyze. Merge.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Offline 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4831" y="22402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23160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0487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Chunks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487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Newline aligned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0791" y="22402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89120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Workers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7083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Independent map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16752" y="22402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55079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Partials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3679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Counts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82712" y="22402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0275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Reduce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275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Deterministic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48672" y="22402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95560" y="1417320"/>
            <a:ext cx="1828800" cy="23317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87000" y="16459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68712" y="205740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"/>
              </a:rPr>
              <a:t>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68712" y="278892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8B9CB3"/>
                </a:solidFill>
                <a:latin typeface="Segoe UI"/>
              </a:rPr>
              <a:t>Findings + top-N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" y="40233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Optional local 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Explains the report — aggregates and findings only. Never the raw file. If Ollama is down, analytics still work.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Engine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ARCHITECTURE FREEZE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Engine and product stay separate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SYSTEM A  ·  HPC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01168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CLI-runnable without FastAPI or React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Chunk → parse → histograms → merge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Backends: process, dynamic, OpenMP, MPI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Faculty can grade HPC without the website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137160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155448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78BFA"/>
                </a:solidFill>
                <a:latin typeface="Segoe UI"/>
              </a:rPr>
              <a:t>SYSTEM B  ·  PRODUCT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201168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React + FastAPI + SQLite + JWT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Jobs: queued → running → aggregating → completed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Dashboards, benchmarks, optional Ollama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Does not contain the core parallel algorithm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MULTI-PARADIGM CPU HPC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One job. Four ways to run 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258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155448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2D3EE"/>
                </a:solidFill>
                <a:latin typeface="Segoe UI"/>
              </a:rPr>
              <a:t>ProcessPool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2103120"/>
            <a:ext cx="52120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Several Python processes. Default. Strong on 100–500 MB files.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13258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9672" y="155448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BBF24"/>
                </a:solidFill>
                <a:latin typeface="Segoe UI"/>
              </a:rPr>
              <a:t>Dynamic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2103120"/>
            <a:ext cx="52120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Many small chunks. Teaching load-balance. Helps uneven work.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42900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365760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D4BF"/>
                </a:solidFill>
                <a:latin typeface="Segoe UI"/>
              </a:rPr>
              <a:t>OpenMP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" y="4206240"/>
            <a:ext cx="52120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Native C, shared-memory threads. Often fastest on small files.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91072" y="342900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9672" y="365760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78BFA"/>
                </a:solidFill>
                <a:latin typeface="Segoe UI"/>
              </a:rPr>
              <a:t>MPI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4206240"/>
            <a:ext cx="52120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mpi4py + mpiexec on one node. Message-passing model; not a cluster yet.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WHY THIS PROJECT FOR CSE 471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Course outcomes, not a demo toy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002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78BFA"/>
                </a:solidFill>
                <a:latin typeface="Segoe UI"/>
              </a:rPr>
              <a:t>CLO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1031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4F7FB"/>
                </a:solidFill>
                <a:latin typeface="Segoe UI"/>
              </a:rPr>
              <a:t>Measure &amp; benchmark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200400"/>
            <a:ext cx="32461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CB3"/>
                </a:solidFill>
                <a:latin typeface="Segoe UI"/>
              </a:rPr>
              <a:t>Speedup Sp, efficiency Ep, strong + weak scaling, backend compare.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7939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59" y="16002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78BFA"/>
                </a:solidFill>
                <a:latin typeface="Segoe UI"/>
              </a:rPr>
              <a:t>CLO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59" y="21031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4F7FB"/>
                </a:solidFill>
                <a:latin typeface="Segoe UI"/>
              </a:rPr>
              <a:t>CLI / UNIX-style path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3200400"/>
            <a:ext cx="32461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CB3"/>
                </a:solidFill>
                <a:latin typeface="Segoe UI"/>
              </a:rPr>
              <a:t>hpc_engine.analyze, WSL2, submit / run / collect scripts.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987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16002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78BFA"/>
                </a:solidFill>
                <a:latin typeface="Segoe UI"/>
              </a:rPr>
              <a:t>CLO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1031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4F7FB"/>
                </a:solidFill>
                <a:latin typeface="Segoe UI"/>
              </a:rPr>
              <a:t>Jobs &amp; environments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00400"/>
            <a:ext cx="32461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CB3"/>
                </a:solidFill>
                <a:latin typeface="Segoe UI"/>
              </a:rPr>
              <a:t>queued→completed; cluster-lite scripts; venv as module analogue.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78BFA"/>
                </a:solidFill>
                <a:latin typeface="Segoe UI"/>
              </a:rPr>
              <a:t>WEEK-BY-WEEK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The course map on one slide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53312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09344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W2–4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1609344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7FB"/>
                </a:solidFill>
                <a:latin typeface="Segoe UI"/>
              </a:rPr>
              <a:t>Models +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1609344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Four backends; Sp, Ep; domain decomposition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" y="2450591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2706624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W5–7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2706624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7FB"/>
                </a:solidFill>
                <a:latin typeface="Segoe UI"/>
              </a:rPr>
              <a:t>OpenMP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706624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Native C worker, #pragma omp parallel for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" y="3547872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3803904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W8–10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3803904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7FB"/>
                </a:solidFill>
                <a:latin typeface="Segoe UI"/>
              </a:rPr>
              <a:t>MPI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803904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Single-node mpi4py + mpiexec — teaching path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" y="4645152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4901184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Segoe UI"/>
              </a:rPr>
              <a:t>W11–14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4901184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7FB"/>
                </a:solidFill>
                <a:latin typeface="Segoe UI"/>
              </a:rPr>
              <a:t>GPU / CUDA weeks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4901184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Evaluated; unsuitable on Iris Xe — documented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Course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WHY THIS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Why logs — not a textbook multiply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2588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463039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BBF24"/>
                </a:solidFill>
                <a:latin typeface="Segoe UI"/>
              </a:rPr>
              <a:t>Industry workload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Observability, SRE, security operations — faculty from industry recognize the domain.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242316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25603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BBF24"/>
                </a:solidFill>
                <a:latin typeface="Segoe UI"/>
              </a:rPr>
              <a:t>Embarrassingly parallel after chunking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8803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Workers do not talk until reduce. A clean parallel story.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520439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3657599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BBF24"/>
                </a:solidFill>
                <a:latin typeface="Segoe UI"/>
              </a:rPr>
              <a:t>Correctness is non-trivial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3977639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Bad boundaries duplicate or drop lines. Parity tests prove we are not faster-but-wrong.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" y="461772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1C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7548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BBF24"/>
                </a:solidFill>
                <a:latin typeface="Segoe UI"/>
              </a:rPr>
              <a:t>Measurable on student hardware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07492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100–500 MB on an i5 is enough for T1, Sp, Ep without a cluster.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BENCHMARK PROTOCOL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How we measure — so you can trust 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459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Warm-up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14884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Discarded. Then timed runs.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59" y="16459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Clock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214884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time.perf_counter, same file/parser/analysis.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16459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Formulas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14884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Sp = T1 / Tp     Ep = Sp / 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379476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Scaling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29768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Strong (fixed size) + weak (~50 MB/worker).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59" y="379476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Honesty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59" y="429768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No psutil CPU%. No invented times.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1987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21040" y="379476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Segoe UI"/>
              </a:rPr>
              <a:t>Machine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297680"/>
            <a:ext cx="32461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i5-1235U · AC power · Best Performance.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Evidence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EXPERIMENT A  ·  STRONG SCALING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100 MB wall-clock vs workers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365760" y="1234440"/>
          <a:ext cx="7680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8183879" y="1325880"/>
            <a:ext cx="3566160" cy="47091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15544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9CB3"/>
                </a:solidFill>
                <a:latin typeface="Segoe UI"/>
              </a:rPr>
              <a:t>BEST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196596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7FB"/>
                </a:solidFill>
                <a:latin typeface="Segoe UI"/>
              </a:rPr>
              <a:t>p =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697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BBF24"/>
                </a:solidFill>
                <a:latin typeface="Segoe UI"/>
              </a:rPr>
              <a:t>S8 ≈ 1.95×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4290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3.899 s mean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023360"/>
            <a:ext cx="3200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CB3"/>
                </a:solidFill>
                <a:latin typeface="Segoe UI"/>
              </a:rPr>
              <a:t>p=12 is slower than p=8. Overhead beat remaining work. Expected on hybrid P/E cores.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EXPERIMENT A  ·  STRONG SCALING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500 MB wall-clock vs workers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365760" y="1234440"/>
          <a:ext cx="7680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8183879" y="1325880"/>
            <a:ext cx="3566160" cy="47091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15544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9CB3"/>
                </a:solidFill>
                <a:latin typeface="Segoe UI"/>
              </a:rPr>
              <a:t>BEST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196596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7FB"/>
                </a:solidFill>
                <a:latin typeface="Segoe UI"/>
              </a:rPr>
              <a:t>p =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697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BBF24"/>
                </a:solidFill>
                <a:latin typeface="Segoe UI"/>
              </a:rPr>
              <a:t>S12 ≈ 2.53×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4290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17.287 s mean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023360"/>
            <a:ext cx="3200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CB3"/>
                </a:solidFill>
                <a:latin typeface="Segoe UI"/>
              </a:rPr>
              <a:t>Larger parse work amortizes spawn. Efficiency still 0.21. Sublinear — and published.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Segoe UI"/>
              </a:rPr>
              <a:t>BOTTLENECK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CPU-bound — not a disk 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89611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100 MB sequential profiles. Warm-up discarded.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1554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F7FB"/>
                </a:solidFill>
                <a:latin typeface="Segoe UI"/>
              </a:rPr>
              <a:t>Read-only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34640" y="1554480"/>
            <a:ext cx="228600" cy="502920"/>
          </a:xfrm>
          <a:prstGeom prst="roundRect">
            <a:avLst>
              <a:gd name="adj" fmla="val 8000"/>
            </a:avLst>
          </a:prstGeom>
          <a:solidFill>
            <a:srgbClr val="8B9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0" y="155448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9CB3"/>
                </a:solidFill>
                <a:latin typeface="Segoe UI"/>
              </a:rPr>
              <a:t>0.048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27889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F7FB"/>
                </a:solidFill>
                <a:latin typeface="Segoe UI"/>
              </a:rPr>
              <a:t>Parse-only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34640" y="2788920"/>
            <a:ext cx="6612965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84765" y="278892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Segoe UI"/>
              </a:rPr>
              <a:t>5.583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40233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F7FB"/>
                </a:solidFill>
                <a:latin typeface="Segoe UI"/>
              </a:rPr>
              <a:t>Parse + analyze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34640" y="4023360"/>
            <a:ext cx="10607040" cy="50292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578840" y="4023360"/>
            <a:ext cx="1828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BF24"/>
                </a:solidFill>
                <a:latin typeface="Segoe UI"/>
              </a:rPr>
              <a:t>8.955 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5212080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Disk read is ~0.5% of parse+analyze. Parallel CPUs help because parsing dominates.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8912" y="164592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"/>
              </a:rPr>
              <a:t>ASK THE 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685800"/>
            <a:ext cx="11247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4F7FB"/>
                </a:solidFill>
                <a:latin typeface="Segoe UI"/>
              </a:rPr>
              <a:t>Would you rather hear “12 times faster on 12 cores” — or an honest ~2× we can defend?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237744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4F7FB"/>
                </a:solidFill>
                <a:latin typeface="Segoe UI"/>
              </a:rPr>
              <a:t>▸  Hybrid chip: 2 performance cores + 8 efficiency cores + hyper-threading = 12 logical processors.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7FB"/>
                </a:solidFill>
                <a:latin typeface="Segoe UI"/>
              </a:rPr>
              <a:t>▸  Extra workers share weaker cores; spawn, pickle, and merge cost time (Amdahl serial fraction).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7FB"/>
                </a:solidFill>
                <a:latin typeface="Segoe UI"/>
              </a:rPr>
              <a:t>▸  On 100 MB, 12 workers lost to 8. On 500 MB, 12 still wins wall-clock with Ep ≈ 0.21.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7FB"/>
                </a:solidFill>
                <a:latin typeface="Segoe UI"/>
              </a:rPr>
              <a:t>▸  Claiming S12 = 12 on this part would be false. Faculty prefer measured 2×.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Segoe UI"/>
              </a:rPr>
              <a:t>WHO BENEFITS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Three audiences. One system.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459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78BFA"/>
                </a:solidFill>
                <a:latin typeface="Segoe UI"/>
              </a:rPr>
              <a:t>Faculty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46888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Gradable HPC: OpenMP, MPI, ProcessPool, Sp/Ep, parity tests, published protocol.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59" y="16459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2D3EE"/>
                </a:solidFill>
                <a:latin typeface="Segoe UI"/>
              </a:rPr>
              <a:t>Student / CV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246888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Real repo, honest tables, product UI, CLI independence — not a toy notebook.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137160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16459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BBF24"/>
                </a:solidFill>
                <a:latin typeface="Segoe UI"/>
              </a:rPr>
              <a:t>Operator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46888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4F7FB"/>
                </a:solidFill>
                <a:latin typeface="Segoe UI"/>
              </a:rPr>
              <a:t>Faster offline investigation on CPUs you already own. Local AI on aggregates, not the raw dump.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Industry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BF24"/>
                </a:solidFill>
                <a:latin typeface="Segoe UI"/>
              </a:rPr>
              <a:t>INDUSTRY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Typical tools vs this prototype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89611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CB3"/>
                </a:solidFill>
                <a:latin typeface="Segoe UI"/>
              </a:rPr>
              <a:t>Same problem class. Different job.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1417320"/>
            <a:ext cx="5532120" cy="39319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8B9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8B9CB3"/>
                </a:solidFill>
                <a:latin typeface="Segoe UI"/>
              </a:rPr>
              <a:t>SPLUNK / ELASTIC / DATADOG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Production ingest, search, alerting, ops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Licensed platforms, long-running clusters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They already parallelize internally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Not what we claim to replace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417320"/>
            <a:ext cx="5532120" cy="393192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19088" y="1600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2D3EE"/>
                </a:solidFill>
                <a:latin typeface="Segoe UI"/>
              </a:rPr>
              <a:t>THIS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Teaches and measures the HPC mechanism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Four backends you can switch and time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Correctness contract + published Sp/Ep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Local, CPU-only, laptop-scale, auditable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Industry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Segoe UI"/>
              </a:rPr>
              <a:t>WHEN THIS APPROACH IS THE RIGHT 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Use this pattern when…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459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CPU-only sites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24028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No NVIDIA device. Suitability says skip CUDA.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59" y="16459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Offline large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224028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Incident dumps, not live Kafka — yet.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164592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You must prove scaling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24028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Sp, Ep, strong/weak — not a vendor slide.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Privacy / local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38912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Aggregates only. Raw logs stay on the machine.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59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Need a product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59" y="438912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Same engine behind CLI and a real UI.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1987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21040" y="379476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Need correctness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389120"/>
            <a:ext cx="3246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Faster is worthless if counts disagree.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Industry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Segoe UI"/>
              </a:rPr>
              <a:t>TRUST PILLARS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Faster is worthless if it is wrong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Correctness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1945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Sequential ≡ parallel (pytest, all backends when present).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59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Performance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21945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Measurable Sp on 100 MB and 500 MB.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1371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16459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Scalability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1945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Strong + weak scaling documented.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379476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34340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JSON summaries. No fabricated times.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59" y="379476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Modularity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59" y="434340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Engine runs with no website.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19872" y="3520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21040" y="379476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</a:rPr>
              <a:t>Privacy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34340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7FB"/>
                </a:solidFill>
                <a:latin typeface="Segoe UI"/>
              </a:rPr>
              <a:t>Ollama sees aggregates only.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Trust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B7185"/>
                </a:solidFill>
                <a:latin typeface="Segoe UI"/>
              </a:rPr>
              <a:t>SCOPE HONESTY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Clear claims. No surprises.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137160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</a:rPr>
              <a:t>WE DID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0574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Laptop multi-paradigm HPC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ProcessPool, OpenMP, single-node MPI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100 MB and 500 MB measured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Web app + independent CLI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137160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7185"/>
                </a:solidFill>
                <a:latin typeface="Segoe UI"/>
              </a:rPr>
              <a:t>WE DID NOT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20574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GPU acceleration on this hardware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Multi-node / Slurm cluster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Real-time streaming ingest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▸  A production SIEM product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Trust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16459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CLOSE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8404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4F7FB"/>
                </a:solidFill>
                <a:latin typeface="Segoe UI"/>
              </a:rPr>
              <a:t>Many cores. One correct report.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7FB"/>
                </a:solidFill>
                <a:latin typeface="Segoe UI"/>
              </a:rPr>
              <a:t>▸  Split large logs across CPUs you already have.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7FB"/>
                </a:solidFill>
                <a:latin typeface="Segoe UI"/>
              </a:rPr>
              <a:t>▸  Merge evidence you can audit — sequential equals parallel.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7FB"/>
                </a:solidFill>
                <a:latin typeface="Segoe UI"/>
              </a:rPr>
              <a:t>▸  Optional local AI on the summary, not the raw file.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329184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361188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>
                <a:solidFill>
                  <a:srgbClr val="FBBF24"/>
                </a:solidFill>
                <a:latin typeface="Segoe UI"/>
              </a:rPr>
              <a:t>~1.95× on 100 MB     ·     ~2.53× on 500 MB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" y="493776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22D3EE"/>
                </a:solidFill>
                <a:latin typeface="Segoe UI"/>
              </a:rPr>
              <a:t>github.com/galibhasan720/Parallel-Log-Analysis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Close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669280" cy="4023360"/>
          </a:xfrm>
          <a:prstGeom prst="ellipse">
            <a:avLst/>
          </a:prstGeom>
          <a:solidFill>
            <a:srgbClr val="0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3840480"/>
          </a:xfrm>
          <a:prstGeom prst="ellipse">
            <a:avLst/>
          </a:prstGeom>
          <a:solidFill>
            <a:srgbClr val="18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5214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3619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230428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268833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07238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5643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84048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224528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608576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992624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5376672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635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529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3794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5059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6324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588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8853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118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1383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3912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5177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6442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15016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027664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40312" y="0"/>
            <a:ext cx="6350" cy="685800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8912" y="164592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0A2C3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"/>
              </a:rPr>
              <a:t>ASK THE ROOM  ·  Q&amp;A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77724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91440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BUSINESS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1252728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7FB"/>
                </a:solidFill>
                <a:latin typeface="Segoe UI"/>
              </a:rPr>
              <a:t>Where does investigation time cost you the most today?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210312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224027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78BFA"/>
                </a:solidFill>
                <a:latin typeface="Segoe UI"/>
              </a:rPr>
              <a:t>FACULTY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578608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7FB"/>
                </a:solidFill>
                <a:latin typeface="Segoe UI"/>
              </a:rPr>
              <a:t>Which backend would you stress-test first — processes, OpenMP, or MPI?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42900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0E16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356616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BBF24"/>
                </a:solidFill>
                <a:latin typeface="Segoe UI"/>
              </a:rPr>
              <a:t>ANYONE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3904487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7FB"/>
                </a:solidFill>
                <a:latin typeface="Segoe UI"/>
              </a:rPr>
              <a:t>What would you refuse to believe without a measured table?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" y="489204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F4F7FB"/>
                </a:solidFill>
                <a:latin typeface="Segoe UI"/>
              </a:rPr>
              <a:t>Thank you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6565392"/>
            <a:ext cx="78638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B9CB3"/>
                </a:solidFill>
                <a:latin typeface="Segoe UI"/>
              </a:rPr>
              <a:t>CSE 471  ·  Parallel Log Intelligence  ·  Close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6565392"/>
            <a:ext cx="2286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>
                <a:solidFill>
                  <a:srgbClr val="22D3EE"/>
                </a:solidFill>
                <a:latin typeface="Segoe UI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2346</Words>
  <Application>Microsoft Office PowerPoint</Application>
  <PresentationFormat>Widescreen</PresentationFormat>
  <Paragraphs>343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Galib Hasan</cp:lastModifiedBy>
  <cp:revision>1</cp:revision>
  <dcterms:created xsi:type="dcterms:W3CDTF">2013-01-27T09:14:16Z</dcterms:created>
  <dcterms:modified xsi:type="dcterms:W3CDTF">2026-08-16T10:06:51Z</dcterms:modified>
  <cp:category/>
</cp:coreProperties>
</file>